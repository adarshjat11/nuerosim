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4"/>
    <p:sldId id="259" r:id="rId5"/>
    <p:sldId id="265" r:id="rId6"/>
    <p:sldId id="267" r:id="rId7"/>
    <p:sldId id="268"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47" autoAdjust="0"/>
    <p:restoredTop sz="94660"/>
  </p:normalViewPr>
  <p:slideViewPr>
    <p:cSldViewPr snapToGrid="0" snapToObjects="1">
      <p:cViewPr varScale="1">
        <p:scale>
          <a:sx n="47" d="100"/>
          <a:sy n="47" d="100"/>
        </p:scale>
        <p:origin x="45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07943"/>
            <a:ext cx="7772400" cy="1470025"/>
          </a:xfrm>
        </p:spPr>
        <p:txBody>
          <a:bodyPr/>
          <a:lstStyle/>
          <a:p>
            <a:r>
              <a:rPr dirty="0">
                <a:latin typeface="Arial Rounded MT Bold" panose="020F0704030504030204" pitchFamily="34" charset="0"/>
              </a:rPr>
              <a:t>Neuromorphic Computing Simulator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5312"/>
          </a:xfrm>
        </p:spPr>
        <p:txBody>
          <a:bodyPr>
            <a:normAutofit/>
          </a:bodyPr>
          <a:lstStyle/>
          <a:p>
            <a:r>
              <a:rPr sz="3600" dirty="0">
                <a:latin typeface="Arial Black" panose="020B0A04020102020204" pitchFamily="34" charset="0"/>
              </a:rPr>
              <a:t>Introduction</a:t>
            </a:r>
          </a:p>
        </p:txBody>
      </p:sp>
      <p:sp>
        <p:nvSpPr>
          <p:cNvPr id="3" name="Content Placeholder 2"/>
          <p:cNvSpPr>
            <a:spLocks noGrp="1"/>
          </p:cNvSpPr>
          <p:nvPr>
            <p:ph idx="1"/>
          </p:nvPr>
        </p:nvSpPr>
        <p:spPr>
          <a:xfrm>
            <a:off x="221226" y="890847"/>
            <a:ext cx="8229600" cy="5431147"/>
          </a:xfrm>
        </p:spPr>
        <p:txBody>
          <a:bodyPr>
            <a:noAutofit/>
          </a:bodyPr>
          <a:lstStyle/>
          <a:p>
            <a:pPr marL="0" indent="0">
              <a:buNone/>
            </a:pPr>
            <a:r>
              <a:rPr lang="en-US" sz="2200" b="1" dirty="0"/>
              <a:t>What is Neuromorphic Computing?</a:t>
            </a:r>
          </a:p>
          <a:p>
            <a:r>
              <a:rPr lang="en-US" sz="1800" dirty="0"/>
              <a:t>Neuromorphic computing is an emerging field that designs hardware and algorithms inspired by the structure and function of the human brain. Instead of traditional sequential processing, neuromorphic systems use networks of artificial neurons and synapses to achieve efficient, adaptive, and parallel computation.</a:t>
            </a:r>
          </a:p>
          <a:p>
            <a:r>
              <a:rPr lang="en-US" sz="1800" dirty="0"/>
              <a:t> However, real neuromorphic hardware is expensive and not easily accessible. A simulator provides a low-cost, flexible, and scalable environment for research, prototyping, and education.</a:t>
            </a:r>
          </a:p>
          <a:p>
            <a:pPr marL="0" indent="0">
              <a:buNone/>
            </a:pPr>
            <a:endParaRPr lang="en-US" sz="1800" dirty="0"/>
          </a:p>
          <a:p>
            <a:pPr marL="0" indent="0">
              <a:buNone/>
            </a:pPr>
            <a:r>
              <a:rPr lang="en-US" sz="2200" b="1" dirty="0"/>
              <a:t>Why Simulation?</a:t>
            </a:r>
          </a:p>
          <a:p>
            <a:pPr marL="0" indent="0">
              <a:buNone/>
            </a:pPr>
            <a:r>
              <a:rPr lang="en-US" sz="1800" dirty="0"/>
              <a:t>Real neuromorphic hardware is expensive and complex to access. A simulator provides:</a:t>
            </a:r>
          </a:p>
          <a:p>
            <a:r>
              <a:rPr lang="en-US" sz="1800" b="1" dirty="0"/>
              <a:t>Flexibility:</a:t>
            </a:r>
            <a:r>
              <a:rPr lang="en-US" sz="1800" dirty="0"/>
              <a:t> Rapid prototyping and testing of neuron models, networks, and learning rules.</a:t>
            </a:r>
          </a:p>
          <a:p>
            <a:r>
              <a:rPr lang="en-US" sz="1800" b="1" dirty="0"/>
              <a:t>Scalability:</a:t>
            </a:r>
            <a:r>
              <a:rPr lang="en-US" sz="1800" dirty="0"/>
              <a:t> Ability to examine large-scale brain-like networks.</a:t>
            </a:r>
          </a:p>
          <a:p>
            <a:r>
              <a:rPr lang="en-US" sz="1800" b="1" dirty="0"/>
              <a:t>Accessibility:</a:t>
            </a:r>
            <a:r>
              <a:rPr lang="en-US" sz="1800" dirty="0"/>
              <a:t> Educational benefits for students and researchers without hardware</a:t>
            </a:r>
          </a:p>
          <a:p>
            <a:pPr marL="0" indent="0">
              <a:buNone/>
            </a:pPr>
            <a:br>
              <a:rPr lang="en-US" sz="2200" b="1" dirty="0"/>
            </a:b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72434-9034-149C-D925-B85BFACA40E7}"/>
              </a:ext>
            </a:extLst>
          </p:cNvPr>
          <p:cNvSpPr>
            <a:spLocks noGrp="1"/>
          </p:cNvSpPr>
          <p:nvPr>
            <p:ph idx="1"/>
          </p:nvPr>
        </p:nvSpPr>
        <p:spPr>
          <a:xfrm>
            <a:off x="457200" y="553065"/>
            <a:ext cx="8229600" cy="5508522"/>
          </a:xfrm>
        </p:spPr>
        <p:txBody>
          <a:bodyPr>
            <a:normAutofit fontScale="25000" lnSpcReduction="20000"/>
          </a:bodyPr>
          <a:lstStyle/>
          <a:p>
            <a:pPr marL="0" indent="0">
              <a:lnSpc>
                <a:spcPct val="120000"/>
              </a:lnSpc>
              <a:buNone/>
            </a:pPr>
            <a:r>
              <a:rPr lang="en-US" sz="8800" b="1" dirty="0"/>
              <a:t>Project Goals</a:t>
            </a:r>
          </a:p>
          <a:p>
            <a:pPr>
              <a:lnSpc>
                <a:spcPct val="120000"/>
              </a:lnSpc>
            </a:pPr>
            <a:r>
              <a:rPr lang="en-US" sz="8800" dirty="0"/>
              <a:t>Implement customizable neuron and synapse models.</a:t>
            </a:r>
          </a:p>
          <a:p>
            <a:pPr>
              <a:lnSpc>
                <a:spcPct val="120000"/>
              </a:lnSpc>
            </a:pPr>
            <a:r>
              <a:rPr lang="en-US" sz="8800" dirty="0"/>
              <a:t>Support various network configurations and learning algorithms.</a:t>
            </a:r>
          </a:p>
          <a:p>
            <a:pPr>
              <a:lnSpc>
                <a:spcPct val="120000"/>
              </a:lnSpc>
            </a:pPr>
            <a:r>
              <a:rPr lang="en-US" sz="8800" dirty="0"/>
              <a:t>Visualize neural activity (spike </a:t>
            </a:r>
            <a:r>
              <a:rPr lang="en-US" sz="8800" dirty="0" err="1"/>
              <a:t>rasters</a:t>
            </a:r>
            <a:r>
              <a:rPr lang="en-US" sz="8800" dirty="0"/>
              <a:t>, learning curves).</a:t>
            </a:r>
          </a:p>
          <a:p>
            <a:pPr>
              <a:lnSpc>
                <a:spcPct val="120000"/>
              </a:lnSpc>
            </a:pPr>
            <a:r>
              <a:rPr lang="en-US" sz="8800" dirty="0"/>
              <a:t>Offer modularity for easy extension and integration with future hardware.</a:t>
            </a:r>
          </a:p>
          <a:p>
            <a:pPr marL="0" indent="0">
              <a:lnSpc>
                <a:spcPct val="120000"/>
              </a:lnSpc>
              <a:buNone/>
            </a:pPr>
            <a:endParaRPr lang="en-US" sz="8800" dirty="0"/>
          </a:p>
          <a:p>
            <a:pPr marL="0" indent="0">
              <a:lnSpc>
                <a:spcPct val="120000"/>
              </a:lnSpc>
              <a:buNone/>
            </a:pPr>
            <a:r>
              <a:rPr lang="en-US" sz="8800" b="1" dirty="0"/>
              <a:t>Technologies &amp; Tools</a:t>
            </a:r>
          </a:p>
          <a:p>
            <a:pPr>
              <a:lnSpc>
                <a:spcPct val="120000"/>
              </a:lnSpc>
            </a:pPr>
            <a:r>
              <a:rPr lang="en-US" sz="8800" dirty="0"/>
              <a:t>Programming Language - Python</a:t>
            </a:r>
          </a:p>
          <a:p>
            <a:pPr>
              <a:lnSpc>
                <a:spcPct val="120000"/>
              </a:lnSpc>
            </a:pPr>
            <a:r>
              <a:rPr lang="en-US" sz="8800" dirty="0"/>
              <a:t>Simulation Libraries – </a:t>
            </a:r>
            <a:r>
              <a:rPr lang="en-US" sz="8800" dirty="0" err="1"/>
              <a:t>Nengo</a:t>
            </a:r>
            <a:r>
              <a:rPr lang="en-US" sz="8800" dirty="0"/>
              <a:t>, Brian2</a:t>
            </a:r>
          </a:p>
          <a:p>
            <a:pPr>
              <a:lnSpc>
                <a:spcPct val="120000"/>
              </a:lnSpc>
            </a:pPr>
            <a:r>
              <a:rPr lang="en-US" sz="8800" dirty="0"/>
              <a:t>Visualization – Matplotlib, </a:t>
            </a:r>
            <a:r>
              <a:rPr lang="en-US" sz="8800" dirty="0" err="1"/>
              <a:t>Plotly</a:t>
            </a:r>
            <a:endParaRPr lang="en-US" sz="8800" dirty="0"/>
          </a:p>
          <a:p>
            <a:pPr>
              <a:lnSpc>
                <a:spcPct val="120000"/>
              </a:lnSpc>
            </a:pPr>
            <a:r>
              <a:rPr lang="en-US" sz="8800" dirty="0"/>
              <a:t>Development Environment - </a:t>
            </a:r>
            <a:r>
              <a:rPr lang="en-US" sz="8800" dirty="0" err="1"/>
              <a:t>Jupyter</a:t>
            </a:r>
            <a:r>
              <a:rPr lang="en-US" sz="8800" dirty="0"/>
              <a:t> Notebook</a:t>
            </a:r>
          </a:p>
          <a:p>
            <a:pPr>
              <a:lnSpc>
                <a:spcPct val="120000"/>
              </a:lnSpc>
            </a:pPr>
            <a:r>
              <a:rPr lang="en-US" sz="8800" dirty="0"/>
              <a:t>Code Management &amp; Sharing - GitHub</a:t>
            </a:r>
          </a:p>
          <a:p>
            <a:pPr>
              <a:lnSpc>
                <a:spcPct val="170000"/>
              </a:lnSpc>
            </a:pPr>
            <a:endParaRPr lang="en-US" dirty="0"/>
          </a:p>
          <a:p>
            <a:pPr marL="0" indent="0">
              <a:lnSpc>
                <a:spcPct val="170000"/>
              </a:lnSpc>
              <a:buNone/>
            </a:pPr>
            <a:endParaRPr lang="en-US" b="1" dirty="0"/>
          </a:p>
          <a:p>
            <a:pPr marL="0" indent="0">
              <a:lnSpc>
                <a:spcPct val="170000"/>
              </a:lnSpc>
              <a:buNone/>
            </a:pPr>
            <a:endParaRPr lang="en-US" dirty="0"/>
          </a:p>
        </p:txBody>
      </p:sp>
    </p:spTree>
    <p:extLst>
      <p:ext uri="{BB962C8B-B14F-4D97-AF65-F5344CB8AC3E}">
        <p14:creationId xmlns:p14="http://schemas.microsoft.com/office/powerpoint/2010/main" val="2052452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7242"/>
            <a:ext cx="8229600" cy="1143000"/>
          </a:xfrm>
        </p:spPr>
        <p:txBody>
          <a:bodyPr/>
          <a:lstStyle/>
          <a:p>
            <a:pPr algn="l"/>
            <a:r>
              <a:rPr lang="en-US" b="1" dirty="0"/>
              <a:t>Algorithm</a:t>
            </a:r>
          </a:p>
        </p:txBody>
      </p:sp>
      <p:sp>
        <p:nvSpPr>
          <p:cNvPr id="3" name="Content Placeholder 2"/>
          <p:cNvSpPr>
            <a:spLocks noGrp="1"/>
          </p:cNvSpPr>
          <p:nvPr>
            <p:ph idx="1"/>
          </p:nvPr>
        </p:nvSpPr>
        <p:spPr>
          <a:xfrm>
            <a:off x="457200" y="1372494"/>
            <a:ext cx="8229600" cy="4525963"/>
          </a:xfrm>
        </p:spPr>
        <p:txBody>
          <a:bodyPr>
            <a:noAutofit/>
          </a:bodyPr>
          <a:lstStyle/>
          <a:p>
            <a:pPr marL="0" indent="0">
              <a:buNone/>
            </a:pPr>
            <a:r>
              <a:rPr lang="en-US" sz="1600" b="1" dirty="0"/>
              <a:t>1. Initialize Environment</a:t>
            </a:r>
          </a:p>
          <a:p>
            <a:r>
              <a:rPr lang="en-US" sz="1600" dirty="0"/>
              <a:t>Import necessary libraries: </a:t>
            </a:r>
            <a:r>
              <a:rPr lang="en-US" sz="1600" dirty="0" err="1"/>
              <a:t>Nengo</a:t>
            </a:r>
            <a:r>
              <a:rPr lang="en-US" sz="1600" dirty="0"/>
              <a:t>/Brian2, NumPy, Matplotlib.</a:t>
            </a:r>
          </a:p>
          <a:p>
            <a:r>
              <a:rPr lang="en-US" sz="1600" dirty="0"/>
              <a:t>Set up </a:t>
            </a:r>
            <a:r>
              <a:rPr lang="en-US" sz="1600" dirty="0" err="1"/>
              <a:t>Jupyter</a:t>
            </a:r>
            <a:r>
              <a:rPr lang="en-US" sz="1600" dirty="0"/>
              <a:t> Notebook environment for interactive coding.</a:t>
            </a:r>
          </a:p>
          <a:p>
            <a:pPr marL="0" indent="0">
              <a:buNone/>
            </a:pPr>
            <a:endParaRPr lang="en-US" sz="1600" dirty="0"/>
          </a:p>
          <a:p>
            <a:pPr marL="0" indent="0">
              <a:buNone/>
            </a:pPr>
            <a:r>
              <a:rPr lang="en-US" sz="1600" b="1" dirty="0"/>
              <a:t>2. Define Neuron Model</a:t>
            </a:r>
          </a:p>
          <a:p>
            <a:r>
              <a:rPr lang="en-US" sz="1600" dirty="0"/>
              <a:t>Choose model: Leaky Integrate-and-Fire (LIF), </a:t>
            </a:r>
            <a:r>
              <a:rPr lang="en-US" sz="1600" dirty="0" err="1"/>
              <a:t>Izhikevich</a:t>
            </a:r>
            <a:r>
              <a:rPr lang="en-US" sz="1600" dirty="0"/>
              <a:t>, etc.</a:t>
            </a:r>
          </a:p>
          <a:p>
            <a:r>
              <a:rPr lang="en-US" sz="1600" dirty="0"/>
              <a:t>Set model parameters (e.g., membrane potential, threshold, reset).</a:t>
            </a:r>
          </a:p>
          <a:p>
            <a:endParaRPr lang="en-US" sz="1600" dirty="0"/>
          </a:p>
          <a:p>
            <a:pPr marL="0" indent="0">
              <a:buNone/>
            </a:pPr>
            <a:r>
              <a:rPr lang="en-US" sz="1600" b="1" dirty="0"/>
              <a:t>3. Build Neural Network</a:t>
            </a:r>
          </a:p>
          <a:p>
            <a:r>
              <a:rPr lang="en-US" sz="1600" dirty="0"/>
              <a:t>Specify number of neurons and network topology (feedforward, recurrent, etc.).</a:t>
            </a:r>
          </a:p>
          <a:p>
            <a:r>
              <a:rPr lang="en-US" sz="1600" dirty="0"/>
              <a:t>Define connectivity matrix (who connects to whom, synapse weights).</a:t>
            </a:r>
          </a:p>
          <a:p>
            <a:r>
              <a:rPr lang="en-US" sz="1600" dirty="0"/>
              <a:t>Initialize synaptic model (static or plastic: STDP/Hebbian).</a:t>
            </a:r>
          </a:p>
          <a:p>
            <a:pPr marL="0" indent="0">
              <a:buNone/>
            </a:pPr>
            <a:endParaRPr lang="en-US" sz="1600" dirty="0"/>
          </a:p>
          <a:p>
            <a:pPr marL="0" indent="0">
              <a:buNone/>
            </a:pPr>
            <a:r>
              <a:rPr lang="en-US" sz="1600" b="1" dirty="0"/>
              <a:t>4. Design Input Encoding</a:t>
            </a:r>
          </a:p>
          <a:p>
            <a:r>
              <a:rPr lang="en-US" sz="1600" dirty="0"/>
              <a:t>Convert input data (e.g., image, signal) into spike trains using scheme like Poisson encoding.</a:t>
            </a:r>
          </a:p>
          <a:p>
            <a:pPr marL="0" indent="0">
              <a:buNone/>
            </a:pPr>
            <a:endParaRPr lang="en-US" sz="1600" dirty="0"/>
          </a:p>
          <a:p>
            <a:pPr marL="0" indent="0">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A30283-4C53-9842-22FC-3CCE3E644785}"/>
                  </a:ext>
                </a:extLst>
              </p:cNvPr>
              <p:cNvSpPr txBox="1"/>
              <p:nvPr/>
            </p:nvSpPr>
            <p:spPr>
              <a:xfrm>
                <a:off x="372979" y="476922"/>
                <a:ext cx="8109283" cy="4031873"/>
              </a:xfrm>
              <a:prstGeom prst="rect">
                <a:avLst/>
              </a:prstGeom>
              <a:noFill/>
            </p:spPr>
            <p:txBody>
              <a:bodyPr wrap="square">
                <a:spAutoFit/>
              </a:bodyPr>
              <a:lstStyle/>
              <a:p>
                <a:r>
                  <a:rPr lang="en-US" sz="1600" b="1" dirty="0"/>
                  <a:t>5. Simulation Loop</a:t>
                </a:r>
              </a:p>
              <a:p>
                <a:pPr marL="285750" indent="-285750">
                  <a:buFont typeface="Arial" panose="020B0604020202020204" pitchFamily="34" charset="0"/>
                  <a:buChar char="•"/>
                </a:pPr>
                <a:r>
                  <a:rPr lang="en-US" sz="1600" dirty="0"/>
                  <a:t>For time step </a:t>
                </a:r>
                <a14:m>
                  <m:oMath xmlns:m="http://schemas.openxmlformats.org/officeDocument/2006/math">
                    <m:r>
                      <a:rPr lang="en-US" sz="1600" i="1">
                        <a:latin typeface="Cambria Math" panose="02040503050406030204" pitchFamily="18" charset="0"/>
                      </a:rPr>
                      <m:t>𝑡</m:t>
                    </m:r>
                    <m:r>
                      <a:rPr lang="en-US" sz="1600">
                        <a:latin typeface="Cambria Math" panose="02040503050406030204" pitchFamily="18" charset="0"/>
                      </a:rPr>
                      <m:t>=0</m:t>
                    </m:r>
                  </m:oMath>
                </a14:m>
                <a:r>
                  <a:rPr lang="en-US" sz="1600" dirty="0"/>
                  <a:t> to simulation end</a:t>
                </a:r>
              </a:p>
              <a:p>
                <a:pPr marL="285750" indent="-285750">
                  <a:buFont typeface="Arial" panose="020B0604020202020204" pitchFamily="34" charset="0"/>
                  <a:buChar char="•"/>
                </a:pPr>
                <a:r>
                  <a:rPr lang="en-US" sz="1600" dirty="0"/>
                  <a:t>Feed encoded input to network.</a:t>
                </a:r>
              </a:p>
              <a:p>
                <a:pPr marL="285750" indent="-285750">
                  <a:buFont typeface="Arial" panose="020B0604020202020204" pitchFamily="34" charset="0"/>
                  <a:buChar char="•"/>
                </a:pPr>
                <a:r>
                  <a:rPr lang="en-US" sz="1600" dirty="0"/>
                  <a:t>Update neuron states per chosen model.</a:t>
                </a:r>
              </a:p>
              <a:p>
                <a:pPr marL="285750" indent="-285750">
                  <a:buFont typeface="Arial" panose="020B0604020202020204" pitchFamily="34" charset="0"/>
                  <a:buChar char="•"/>
                </a:pPr>
                <a:r>
                  <a:rPr lang="en-US" sz="1600" dirty="0"/>
                  <a:t>Update synaptic weights if learning is enabled.</a:t>
                </a:r>
              </a:p>
              <a:p>
                <a:pPr marL="285750" indent="-285750">
                  <a:buFont typeface="Arial" panose="020B0604020202020204" pitchFamily="34" charset="0"/>
                  <a:buChar char="•"/>
                </a:pPr>
                <a:r>
                  <a:rPr lang="en-US" sz="1600" dirty="0"/>
                  <a:t>Record spike events and membrane potentials.</a:t>
                </a:r>
              </a:p>
              <a:p>
                <a:endParaRPr lang="en-US" sz="1600" dirty="0"/>
              </a:p>
              <a:p>
                <a:pPr marL="0" indent="0">
                  <a:buNone/>
                </a:pPr>
                <a:r>
                  <a:rPr lang="en-US" sz="1600" b="1" dirty="0"/>
                  <a:t>6. Output &amp; Classification</a:t>
                </a:r>
              </a:p>
              <a:p>
                <a:pPr marL="285750" indent="-285750">
                  <a:buFont typeface="Arial" panose="020B0604020202020204" pitchFamily="34" charset="0"/>
                  <a:buChar char="•"/>
                </a:pPr>
                <a:r>
                  <a:rPr lang="en-US" sz="1600" dirty="0"/>
                  <a:t>Collect spikes from output layer or designated neurons.</a:t>
                </a:r>
              </a:p>
              <a:p>
                <a:pPr marL="285750" indent="-285750">
                  <a:buFont typeface="Arial" panose="020B0604020202020204" pitchFamily="34" charset="0"/>
                  <a:buChar char="•"/>
                </a:pPr>
                <a:r>
                  <a:rPr lang="en-US" sz="1600" dirty="0"/>
                  <a:t>Post-process results to determine class/recognition (e.g., using majority spikes, spike rate).</a:t>
                </a:r>
              </a:p>
              <a:p>
                <a:pPr marL="285750" indent="-285750">
                  <a:buFont typeface="Arial" panose="020B0604020202020204" pitchFamily="34" charset="0"/>
                  <a:buChar char="•"/>
                </a:pPr>
                <a:endParaRPr lang="en-US" sz="1600" dirty="0"/>
              </a:p>
              <a:p>
                <a:pPr marL="0" indent="0">
                  <a:buNone/>
                </a:pPr>
                <a:r>
                  <a:rPr lang="en-US" sz="1600" b="1" dirty="0"/>
                  <a:t>7. Visualization &amp; Metrics</a:t>
                </a:r>
              </a:p>
              <a:p>
                <a:pPr marL="285750" indent="-285750">
                  <a:buFont typeface="Arial" panose="020B0604020202020204" pitchFamily="34" charset="0"/>
                  <a:buChar char="•"/>
                </a:pPr>
                <a:r>
                  <a:rPr lang="en-US" sz="1600" dirty="0"/>
                  <a:t>Plot spike raster diagram (time vs neuron spikes).</a:t>
                </a:r>
              </a:p>
              <a:p>
                <a:pPr marL="285750" indent="-285750">
                  <a:buFont typeface="Arial" panose="020B0604020202020204" pitchFamily="34" charset="0"/>
                  <a:buChar char="•"/>
                </a:pPr>
                <a:r>
                  <a:rPr lang="en-US" sz="1600" dirty="0"/>
                  <a:t>Generate learning curve (accuracy vs epoch).</a:t>
                </a:r>
              </a:p>
              <a:p>
                <a:pPr marL="285750" indent="-285750">
                  <a:buFont typeface="Arial" panose="020B0604020202020204" pitchFamily="34" charset="0"/>
                  <a:buChar char="•"/>
                </a:pPr>
                <a:r>
                  <a:rPr lang="en-US" sz="1600" dirty="0"/>
                  <a:t>Display energy and latency estimation (using pre-defined formulas).</a:t>
                </a:r>
              </a:p>
              <a:p>
                <a:endParaRPr lang="en-US" sz="1600" dirty="0"/>
              </a:p>
            </p:txBody>
          </p:sp>
        </mc:Choice>
        <mc:Fallback xmlns="">
          <p:sp>
            <p:nvSpPr>
              <p:cNvPr id="3" name="TextBox 2">
                <a:extLst>
                  <a:ext uri="{FF2B5EF4-FFF2-40B4-BE49-F238E27FC236}">
                    <a16:creationId xmlns:a16="http://schemas.microsoft.com/office/drawing/2014/main" id="{AAA30283-4C53-9842-22FC-3CCE3E644785}"/>
                  </a:ext>
                </a:extLst>
              </p:cNvPr>
              <p:cNvSpPr txBox="1">
                <a:spLocks noRot="1" noChangeAspect="1" noMove="1" noResize="1" noEditPoints="1" noAdjustHandles="1" noChangeArrowheads="1" noChangeShapeType="1" noTextEdit="1"/>
              </p:cNvSpPr>
              <p:nvPr/>
            </p:nvSpPr>
            <p:spPr>
              <a:xfrm>
                <a:off x="372979" y="476922"/>
                <a:ext cx="8109283" cy="4031873"/>
              </a:xfrm>
              <a:prstGeom prst="rect">
                <a:avLst/>
              </a:prstGeom>
              <a:blipFill>
                <a:blip r:embed="rId2"/>
                <a:stretch>
                  <a:fillRect l="-376" t="-453"/>
                </a:stretch>
              </a:blipFill>
            </p:spPr>
            <p:txBody>
              <a:bodyPr/>
              <a:lstStyle/>
              <a:p>
                <a:r>
                  <a:rPr lang="en-US">
                    <a:noFill/>
                  </a:rPr>
                  <a:t> </a:t>
                </a:r>
              </a:p>
            </p:txBody>
          </p:sp>
        </mc:Fallback>
      </mc:AlternateContent>
    </p:spTree>
    <p:extLst>
      <p:ext uri="{BB962C8B-B14F-4D97-AF65-F5344CB8AC3E}">
        <p14:creationId xmlns:p14="http://schemas.microsoft.com/office/powerpoint/2010/main" val="100217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EB2866-695F-96F3-55F9-085ABCF41738}"/>
              </a:ext>
            </a:extLst>
          </p:cNvPr>
          <p:cNvSpPr>
            <a:spLocks noGrp="1"/>
          </p:cNvSpPr>
          <p:nvPr>
            <p:ph idx="1"/>
          </p:nvPr>
        </p:nvSpPr>
        <p:spPr>
          <a:xfrm>
            <a:off x="383458" y="175825"/>
            <a:ext cx="8229600" cy="6260690"/>
          </a:xfrm>
        </p:spPr>
        <p:txBody>
          <a:bodyPr>
            <a:noAutofit/>
          </a:bodyPr>
          <a:lstStyle/>
          <a:p>
            <a:pPr marL="0" lvl="0" indent="0" defTabSz="914400" eaLnBrk="0" fontAlgn="base" hangingPunct="0">
              <a:spcBef>
                <a:spcPct val="0"/>
              </a:spcBef>
              <a:spcAft>
                <a:spcPct val="0"/>
              </a:spcAft>
              <a:buNone/>
            </a:pPr>
            <a:r>
              <a:rPr lang="en-US" altLang="en-US" sz="2000" b="1" dirty="0"/>
              <a:t>Version 1: Basic Simulator</a:t>
            </a:r>
          </a:p>
          <a:p>
            <a:pPr defTabSz="914400" eaLnBrk="0" fontAlgn="base" hangingPunct="0">
              <a:spcBef>
                <a:spcPct val="0"/>
              </a:spcBef>
              <a:spcAft>
                <a:spcPct val="0"/>
              </a:spcAft>
            </a:pPr>
            <a:r>
              <a:rPr lang="en-US" altLang="en-US" sz="1800" dirty="0"/>
              <a:t>Single neuron model (LIF)</a:t>
            </a:r>
          </a:p>
          <a:p>
            <a:pPr defTabSz="914400" eaLnBrk="0" fontAlgn="base" hangingPunct="0">
              <a:spcBef>
                <a:spcPct val="0"/>
              </a:spcBef>
              <a:spcAft>
                <a:spcPct val="0"/>
              </a:spcAft>
            </a:pPr>
            <a:r>
              <a:rPr lang="en-US" altLang="en-US" sz="1800" dirty="0"/>
              <a:t>Feedforward network with fixed weights</a:t>
            </a:r>
          </a:p>
          <a:p>
            <a:pPr defTabSz="914400" eaLnBrk="0" fontAlgn="base" hangingPunct="0">
              <a:spcBef>
                <a:spcPct val="0"/>
              </a:spcBef>
              <a:spcAft>
                <a:spcPct val="0"/>
              </a:spcAft>
            </a:pPr>
            <a:r>
              <a:rPr lang="en-US" altLang="en-US" sz="1800" dirty="0"/>
              <a:t>Basic spike raster visualization</a:t>
            </a:r>
          </a:p>
          <a:p>
            <a:pPr defTabSz="914400" eaLnBrk="0" fontAlgn="base" hangingPunct="0">
              <a:spcBef>
                <a:spcPct val="0"/>
              </a:spcBef>
              <a:spcAft>
                <a:spcPct val="0"/>
              </a:spcAft>
            </a:pPr>
            <a:endParaRPr lang="en-US" altLang="en-US" sz="2000" dirty="0"/>
          </a:p>
          <a:p>
            <a:pPr marL="0" lvl="0" indent="0" defTabSz="914400" eaLnBrk="0" fontAlgn="base" hangingPunct="0">
              <a:spcBef>
                <a:spcPct val="0"/>
              </a:spcBef>
              <a:spcAft>
                <a:spcPct val="0"/>
              </a:spcAft>
              <a:buNone/>
            </a:pPr>
            <a:r>
              <a:rPr lang="en-US" altLang="en-US" sz="2000" b="1" dirty="0"/>
              <a:t>Version 2: Modular Expansion</a:t>
            </a:r>
          </a:p>
          <a:p>
            <a:pPr defTabSz="914400" eaLnBrk="0" fontAlgn="base" hangingPunct="0">
              <a:spcBef>
                <a:spcPct val="0"/>
              </a:spcBef>
              <a:spcAft>
                <a:spcPct val="0"/>
              </a:spcAft>
            </a:pPr>
            <a:r>
              <a:rPr lang="en-US" altLang="en-US" sz="1800" dirty="0"/>
              <a:t>Multiple neuron models (LIF, </a:t>
            </a:r>
            <a:r>
              <a:rPr lang="en-US" altLang="en-US" sz="1800" dirty="0" err="1"/>
              <a:t>Izhikevich</a:t>
            </a:r>
            <a:r>
              <a:rPr lang="en-US" altLang="en-US" sz="1800" dirty="0"/>
              <a:t>, Hodgkin-Huxley)</a:t>
            </a:r>
          </a:p>
          <a:p>
            <a:pPr defTabSz="914400" eaLnBrk="0" fontAlgn="base" hangingPunct="0">
              <a:spcBef>
                <a:spcPct val="0"/>
              </a:spcBef>
              <a:spcAft>
                <a:spcPct val="0"/>
              </a:spcAft>
            </a:pPr>
            <a:r>
              <a:rPr lang="en-US" altLang="en-US" sz="1800" dirty="0"/>
              <a:t>STDP/Hebbian learning rules</a:t>
            </a:r>
          </a:p>
          <a:p>
            <a:pPr defTabSz="914400" eaLnBrk="0" fontAlgn="base" hangingPunct="0">
              <a:spcBef>
                <a:spcPct val="0"/>
              </a:spcBef>
              <a:spcAft>
                <a:spcPct val="0"/>
              </a:spcAft>
            </a:pPr>
            <a:r>
              <a:rPr lang="en-US" altLang="en-US" sz="1800" dirty="0"/>
              <a:t>Configurable topologies</a:t>
            </a:r>
          </a:p>
          <a:p>
            <a:pPr defTabSz="914400" eaLnBrk="0" fontAlgn="base" hangingPunct="0">
              <a:spcBef>
                <a:spcPct val="0"/>
              </a:spcBef>
              <a:spcAft>
                <a:spcPct val="0"/>
              </a:spcAft>
            </a:pPr>
            <a:r>
              <a:rPr lang="en-US" altLang="en-US" sz="1800" dirty="0"/>
              <a:t>Weight change visualization</a:t>
            </a:r>
          </a:p>
          <a:p>
            <a:pPr defTabSz="914400" eaLnBrk="0" fontAlgn="base" hangingPunct="0">
              <a:spcBef>
                <a:spcPct val="0"/>
              </a:spcBef>
              <a:spcAft>
                <a:spcPct val="0"/>
              </a:spcAft>
            </a:pPr>
            <a:endParaRPr lang="en-US" altLang="en-US" sz="2000" dirty="0"/>
          </a:p>
          <a:p>
            <a:pPr marL="0" lvl="0" indent="0" defTabSz="914400" eaLnBrk="0" fontAlgn="base" hangingPunct="0">
              <a:spcBef>
                <a:spcPct val="0"/>
              </a:spcBef>
              <a:spcAft>
                <a:spcPct val="0"/>
              </a:spcAft>
              <a:buNone/>
            </a:pPr>
            <a:r>
              <a:rPr lang="en-US" altLang="en-US" sz="2000" b="1" dirty="0"/>
              <a:t>Version 3: Educational Demos &amp; Dashboard</a:t>
            </a:r>
            <a:endParaRPr lang="en-US" altLang="en-US" sz="2000" dirty="0"/>
          </a:p>
          <a:p>
            <a:pPr defTabSz="914400" eaLnBrk="0" fontAlgn="base" hangingPunct="0">
              <a:spcBef>
                <a:spcPct val="0"/>
              </a:spcBef>
              <a:spcAft>
                <a:spcPct val="0"/>
              </a:spcAft>
            </a:pPr>
            <a:r>
              <a:rPr lang="en-US" altLang="en-US" sz="1800" dirty="0"/>
              <a:t>Practical tasks (digit recognition, edge detection)</a:t>
            </a:r>
          </a:p>
          <a:p>
            <a:pPr defTabSz="914400" eaLnBrk="0" fontAlgn="base" hangingPunct="0">
              <a:spcBef>
                <a:spcPct val="0"/>
              </a:spcBef>
              <a:spcAft>
                <a:spcPct val="0"/>
              </a:spcAft>
            </a:pPr>
            <a:r>
              <a:rPr lang="en-US" altLang="en-US" sz="1800" dirty="0"/>
              <a:t>Performance dashboards (accuracy, energy, latency)</a:t>
            </a:r>
          </a:p>
          <a:p>
            <a:pPr defTabSz="914400" eaLnBrk="0" fontAlgn="base" hangingPunct="0">
              <a:spcBef>
                <a:spcPct val="0"/>
              </a:spcBef>
              <a:spcAft>
                <a:spcPct val="0"/>
              </a:spcAft>
            </a:pPr>
            <a:r>
              <a:rPr lang="en-US" altLang="en-US" sz="1800" dirty="0"/>
              <a:t>Data persistence and improved usability</a:t>
            </a:r>
          </a:p>
          <a:p>
            <a:pPr defTabSz="914400" eaLnBrk="0" fontAlgn="base" hangingPunct="0">
              <a:spcBef>
                <a:spcPct val="0"/>
              </a:spcBef>
              <a:spcAft>
                <a:spcPct val="0"/>
              </a:spcAft>
            </a:pPr>
            <a:endParaRPr lang="en-US" altLang="en-US" sz="1800" dirty="0"/>
          </a:p>
          <a:p>
            <a:pPr marL="0" indent="0" defTabSz="914400" eaLnBrk="0" fontAlgn="base" hangingPunct="0">
              <a:spcBef>
                <a:spcPct val="0"/>
              </a:spcBef>
              <a:spcAft>
                <a:spcPct val="0"/>
              </a:spcAft>
              <a:buNone/>
            </a:pPr>
            <a:r>
              <a:rPr lang="en-US" sz="1700" b="1" dirty="0"/>
              <a:t>Output – </a:t>
            </a:r>
          </a:p>
          <a:p>
            <a:pPr defTabSz="914400" eaLnBrk="0" fontAlgn="base" hangingPunct="0">
              <a:spcBef>
                <a:spcPct val="0"/>
              </a:spcBef>
              <a:spcAft>
                <a:spcPct val="0"/>
              </a:spcAft>
            </a:pPr>
            <a:r>
              <a:rPr lang="en-US" sz="1600" dirty="0"/>
              <a:t>Basic Spike Raster Visualization - shows when each neuron fires over time as vertical tick marks.</a:t>
            </a:r>
          </a:p>
          <a:p>
            <a:pPr defTabSz="914400" eaLnBrk="0" fontAlgn="base" hangingPunct="0">
              <a:spcBef>
                <a:spcPct val="0"/>
              </a:spcBef>
              <a:spcAft>
                <a:spcPct val="0"/>
              </a:spcAft>
            </a:pPr>
            <a:r>
              <a:rPr lang="en-US" sz="1600" dirty="0"/>
              <a:t>Weight Change Visualization - compares synaptic connection strengths before and after learning.</a:t>
            </a:r>
          </a:p>
          <a:p>
            <a:pPr defTabSz="914400" eaLnBrk="0" fontAlgn="base" hangingPunct="0">
              <a:spcBef>
                <a:spcPct val="0"/>
              </a:spcBef>
              <a:spcAft>
                <a:spcPct val="0"/>
              </a:spcAft>
            </a:pPr>
            <a:r>
              <a:rPr lang="en-US" sz="1600" dirty="0"/>
              <a:t>Performance Dashboards - track accuracy improvement, energy efficiency, and latency reduction across training epochs.</a:t>
            </a:r>
            <a:endParaRPr lang="en-US" altLang="en-US" sz="1600" dirty="0"/>
          </a:p>
          <a:p>
            <a:pPr defTabSz="914400" eaLnBrk="0" fontAlgn="base" hangingPunct="0">
              <a:spcBef>
                <a:spcPct val="0"/>
              </a:spcBef>
              <a:spcAft>
                <a:spcPct val="0"/>
              </a:spcAft>
            </a:pPr>
            <a:endParaRPr lang="en-US" altLang="en-US" sz="1600" dirty="0">
              <a:latin typeface="Arial" panose="020B0604020202020204" pitchFamily="34" charset="0"/>
            </a:endParaRPr>
          </a:p>
          <a:p>
            <a:endParaRPr lang="en-US" sz="1400" dirty="0"/>
          </a:p>
        </p:txBody>
      </p:sp>
    </p:spTree>
    <p:extLst>
      <p:ext uri="{BB962C8B-B14F-4D97-AF65-F5344CB8AC3E}">
        <p14:creationId xmlns:p14="http://schemas.microsoft.com/office/powerpoint/2010/main" val="829533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5864CB-0787-3FC4-1F75-F1C659E0D4A0}"/>
              </a:ext>
            </a:extLst>
          </p:cNvPr>
          <p:cNvPicPr>
            <a:picLocks noGrp="1" noChangeAspect="1"/>
          </p:cNvPicPr>
          <p:nvPr>
            <p:ph idx="1"/>
          </p:nvPr>
        </p:nvPicPr>
        <p:blipFill>
          <a:blip r:embed="rId2"/>
          <a:stretch>
            <a:fillRect/>
          </a:stretch>
        </p:blipFill>
        <p:spPr>
          <a:xfrm>
            <a:off x="0" y="591610"/>
            <a:ext cx="4349790" cy="2475271"/>
          </a:xfrm>
        </p:spPr>
      </p:pic>
      <p:pic>
        <p:nvPicPr>
          <p:cNvPr id="7" name="Picture 6">
            <a:extLst>
              <a:ext uri="{FF2B5EF4-FFF2-40B4-BE49-F238E27FC236}">
                <a16:creationId xmlns:a16="http://schemas.microsoft.com/office/drawing/2014/main" id="{3EDE5711-B958-E4AF-1025-10EBD57EBC83}"/>
              </a:ext>
            </a:extLst>
          </p:cNvPr>
          <p:cNvPicPr>
            <a:picLocks noChangeAspect="1"/>
          </p:cNvPicPr>
          <p:nvPr/>
        </p:nvPicPr>
        <p:blipFill>
          <a:blip r:embed="rId3"/>
          <a:stretch>
            <a:fillRect/>
          </a:stretch>
        </p:blipFill>
        <p:spPr>
          <a:xfrm>
            <a:off x="0" y="3498512"/>
            <a:ext cx="8618220" cy="2475270"/>
          </a:xfrm>
          <a:prstGeom prst="rect">
            <a:avLst/>
          </a:prstGeom>
        </p:spPr>
      </p:pic>
      <p:pic>
        <p:nvPicPr>
          <p:cNvPr id="9" name="Picture 8">
            <a:extLst>
              <a:ext uri="{FF2B5EF4-FFF2-40B4-BE49-F238E27FC236}">
                <a16:creationId xmlns:a16="http://schemas.microsoft.com/office/drawing/2014/main" id="{7A86FA2B-3B5E-CA34-26B5-CBCCAC5657B7}"/>
              </a:ext>
            </a:extLst>
          </p:cNvPr>
          <p:cNvPicPr>
            <a:picLocks noChangeAspect="1"/>
          </p:cNvPicPr>
          <p:nvPr/>
        </p:nvPicPr>
        <p:blipFill>
          <a:blip r:embed="rId4"/>
          <a:stretch>
            <a:fillRect/>
          </a:stretch>
        </p:blipFill>
        <p:spPr>
          <a:xfrm>
            <a:off x="4349790" y="348261"/>
            <a:ext cx="4268430" cy="2475271"/>
          </a:xfrm>
          <a:prstGeom prst="rect">
            <a:avLst/>
          </a:prstGeom>
        </p:spPr>
      </p:pic>
    </p:spTree>
    <p:extLst>
      <p:ext uri="{BB962C8B-B14F-4D97-AF65-F5344CB8AC3E}">
        <p14:creationId xmlns:p14="http://schemas.microsoft.com/office/powerpoint/2010/main" val="1979628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TotalTime>
  <Words>566</Words>
  <Application>Microsoft Office PowerPoint</Application>
  <PresentationFormat>On-screen Show (4:3)</PresentationFormat>
  <Paragraphs>76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Black</vt:lpstr>
      <vt:lpstr>Arial Rounded MT Bold</vt:lpstr>
      <vt:lpstr>Calibri</vt:lpstr>
      <vt:lpstr>Cambria Math</vt:lpstr>
      <vt:lpstr>Office Theme</vt:lpstr>
      <vt:lpstr>Neuromorphic Computing Simulator</vt:lpstr>
      <vt:lpstr>Introduction</vt:lpstr>
      <vt:lpstr>PowerPoint Presentation</vt:lpstr>
      <vt:lpstr>Algorithm</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Admin</cp:lastModifiedBy>
  <cp:revision>9</cp:revision>
  <dcterms:created xsi:type="dcterms:W3CDTF">2013-01-27T09:14:16Z</dcterms:created>
  <dcterms:modified xsi:type="dcterms:W3CDTF">2025-12-22T16:48:16Z</dcterms:modified>
  <cp:category/>
</cp:coreProperties>
</file>